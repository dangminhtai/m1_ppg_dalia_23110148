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222eba1af1427e" /><Relationship Type="http://schemas.openxmlformats.org/officeDocument/2006/relationships/extended-properties" Target="/docProps/app.xml" Id="R69d87dc7b2df4bf2" /><Relationship Type="http://schemas.openxmlformats.org/officeDocument/2006/relationships/officeDocument" Target="/ppt/presentation.xml" Id="R85f7a530b0c940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3190581bff401c"/>
  </p:sldMasterIdLst>
  <p:notesMasterIdLst>
    <p:notesMasterId xmlns:r="http://schemas.openxmlformats.org/officeDocument/2006/relationships" r:id="Rbfcf54ac61b549ef"/>
  </p:notesMasterIdLst>
  <p:sldIdLst>
    <p:sldId xmlns:r="http://schemas.openxmlformats.org/officeDocument/2006/relationships" id="256" r:id="Rbe0aef5d6a29420a"/>
    <p:sldId xmlns:r="http://schemas.openxmlformats.org/officeDocument/2006/relationships" id="257" r:id="R9cd32abd9e824871"/>
    <p:sldId xmlns:r="http://schemas.openxmlformats.org/officeDocument/2006/relationships" id="258" r:id="Rd767185a65944132"/>
    <p:sldId xmlns:r="http://schemas.openxmlformats.org/officeDocument/2006/relationships" id="259" r:id="R5bd2fef530604f8e"/>
    <p:sldId xmlns:r="http://schemas.openxmlformats.org/officeDocument/2006/relationships" id="260" r:id="R620ed74a5932483e"/>
    <p:sldId xmlns:r="http://schemas.openxmlformats.org/officeDocument/2006/relationships" id="261" r:id="R3df1839d6e3242b6"/>
    <p:sldId xmlns:r="http://schemas.openxmlformats.org/officeDocument/2006/relationships" id="262" r:id="Re9ce6968f03e40ef"/>
    <p:sldId xmlns:r="http://schemas.openxmlformats.org/officeDocument/2006/relationships" id="263" r:id="Rb763871ab3934898"/>
    <p:sldId xmlns:r="http://schemas.openxmlformats.org/officeDocument/2006/relationships" id="264" r:id="Rbf083ae1b7e8476b"/>
    <p:sldId xmlns:r="http://schemas.openxmlformats.org/officeDocument/2006/relationships" id="265" r:id="R1b521656b1cc4279"/>
    <p:sldId xmlns:r="http://schemas.openxmlformats.org/officeDocument/2006/relationships" id="266" r:id="Rdc631fc6a21e446e"/>
    <p:sldId xmlns:r="http://schemas.openxmlformats.org/officeDocument/2006/relationships" id="267" r:id="Rd7ffa781083148cf"/>
    <p:sldId xmlns:r="http://schemas.openxmlformats.org/officeDocument/2006/relationships" id="268" r:id="R8f8097e9ec64401e"/>
    <p:sldId xmlns:r="http://schemas.openxmlformats.org/officeDocument/2006/relationships" id="269" r:id="Re3cf6519929b49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26b49bf2584656" /><Relationship Type="http://schemas.openxmlformats.org/officeDocument/2006/relationships/slideMaster" Target="/ppt/slideMasters/slideMaster1.xml" Id="R783190581bff401c" /><Relationship Type="http://schemas.openxmlformats.org/officeDocument/2006/relationships/notesMaster" Target="/ppt/notesMasters/notesMaster1.xml" Id="Rbfcf54ac61b549ef" /><Relationship Type="http://schemas.openxmlformats.org/officeDocument/2006/relationships/presProps" Target="/ppt/presProps.xml" Id="Rc11899ee58fa4ad7" /><Relationship Type="http://schemas.openxmlformats.org/officeDocument/2006/relationships/tableStyles" Target="/ppt/tableStyles.xml" Id="R669e5d0e9ad345d5" /><Relationship Type="http://schemas.openxmlformats.org/officeDocument/2006/relationships/slide" Target="/ppt/slides/slide1.xml" Id="Rbe0aef5d6a29420a" /><Relationship Type="http://schemas.openxmlformats.org/officeDocument/2006/relationships/slide" Target="/ppt/slides/slide2.xml" Id="R9cd32abd9e824871" /><Relationship Type="http://schemas.openxmlformats.org/officeDocument/2006/relationships/slide" Target="/ppt/slides/slide3.xml" Id="Rd767185a65944132" /><Relationship Type="http://schemas.openxmlformats.org/officeDocument/2006/relationships/slide" Target="/ppt/slides/slide4.xml" Id="R5bd2fef530604f8e" /><Relationship Type="http://schemas.openxmlformats.org/officeDocument/2006/relationships/slide" Target="/ppt/slides/slide5.xml" Id="R620ed74a5932483e" /><Relationship Type="http://schemas.openxmlformats.org/officeDocument/2006/relationships/slide" Target="/ppt/slides/slide6.xml" Id="R3df1839d6e3242b6" /><Relationship Type="http://schemas.openxmlformats.org/officeDocument/2006/relationships/slide" Target="/ppt/slides/slide7.xml" Id="Re9ce6968f03e40ef" /><Relationship Type="http://schemas.openxmlformats.org/officeDocument/2006/relationships/slide" Target="/ppt/slides/slide8.xml" Id="Rb763871ab3934898" /><Relationship Type="http://schemas.openxmlformats.org/officeDocument/2006/relationships/slide" Target="/ppt/slides/slide9.xml" Id="Rbf083ae1b7e8476b" /><Relationship Type="http://schemas.openxmlformats.org/officeDocument/2006/relationships/slide" Target="/ppt/slides/slide10.xml" Id="R1b521656b1cc4279" /><Relationship Type="http://schemas.openxmlformats.org/officeDocument/2006/relationships/slide" Target="/ppt/slides/slide11.xml" Id="Rdc631fc6a21e446e" /><Relationship Type="http://schemas.openxmlformats.org/officeDocument/2006/relationships/slide" Target="/ppt/slides/slide12.xml" Id="Rd7ffa781083148cf" /><Relationship Type="http://schemas.openxmlformats.org/officeDocument/2006/relationships/slide" Target="/ppt/slides/slide13.xml" Id="R8f8097e9ec64401e" /><Relationship Type="http://schemas.openxmlformats.org/officeDocument/2006/relationships/slide" Target="/ppt/slides/slide14.xml" Id="Re3cf6519929b49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fcef123dec4f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36e6ab469b496c" /><Relationship Type="http://schemas.openxmlformats.org/officeDocument/2006/relationships/notesMaster" Target="/ppt/notesMasters/notesMaster1.xml" Id="Rf5b6155262214c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d5b53b93b0475f" /><Relationship Type="http://schemas.openxmlformats.org/officeDocument/2006/relationships/notesMaster" Target="/ppt/notesMasters/notesMaster1.xml" Id="R6db62f3c5ed046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68f3058ce04ad0" /><Relationship Type="http://schemas.openxmlformats.org/officeDocument/2006/relationships/notesMaster" Target="/ppt/notesMasters/notesMaster1.xml" Id="R3e999f3427c640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aaf6701bba4312" /><Relationship Type="http://schemas.openxmlformats.org/officeDocument/2006/relationships/notesMaster" Target="/ppt/notesMasters/notesMaster1.xml" Id="Rdc09f9ae4c1440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367685d16f42f4" /><Relationship Type="http://schemas.openxmlformats.org/officeDocument/2006/relationships/notesMaster" Target="/ppt/notesMasters/notesMaster1.xml" Id="R9d5320dc0f134b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75398fdcfe4c30" /><Relationship Type="http://schemas.openxmlformats.org/officeDocument/2006/relationships/notesMaster" Target="/ppt/notesMasters/notesMaster1.xml" Id="R47236d43caeb4d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98d0a9e92142cc" /><Relationship Type="http://schemas.openxmlformats.org/officeDocument/2006/relationships/notesMaster" Target="/ppt/notesMasters/notesMaster1.xml" Id="R400daa8f9ba448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2400a91db44c4b" /><Relationship Type="http://schemas.openxmlformats.org/officeDocument/2006/relationships/notesMaster" Target="/ppt/notesMasters/notesMaster1.xml" Id="R5bbc503cd69246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d97eb07c6a49a9" /><Relationship Type="http://schemas.openxmlformats.org/officeDocument/2006/relationships/notesMaster" Target="/ppt/notesMasters/notesMaster1.xml" Id="R802014573a794b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ddcac42d1a48b3" /><Relationship Type="http://schemas.openxmlformats.org/officeDocument/2006/relationships/notesMaster" Target="/ppt/notesMasters/notesMaster1.xml" Id="Reea5391ce65e44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a6c5228bdb4e01" /><Relationship Type="http://schemas.openxmlformats.org/officeDocument/2006/relationships/notesMaster" Target="/ppt/notesMasters/notesMaster1.xml" Id="R7c6b291905834a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31edfac8d042cc" /><Relationship Type="http://schemas.openxmlformats.org/officeDocument/2006/relationships/notesMaster" Target="/ppt/notesMasters/notesMaster1.xml" Id="R731ffa354e4a43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56cea76c7374bd5" /><Relationship Type="http://schemas.openxmlformats.org/officeDocument/2006/relationships/notesMaster" Target="/ppt/notesMasters/notesMaster1.xml" Id="Rd1a7c3fcae9243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c8756450ef4ed9" /><Relationship Type="http://schemas.openxmlformats.org/officeDocument/2006/relationships/notesMaster" Target="/ppt/notesMasters/notesMaster1.xml" Id="Rb72a32f184ec4b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báo cáo Word có bìa do sinh viên cung cấp.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đề cương đã chỉnh sửa; mô hình và kết quả trong hai notebook đã chạy.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PPG-DaLiA, https://doi.org/10.24432/C53890; raw_data_audit.csv; window_audit.csv; preprocess_config.json.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notebook chính; preprocess_config.json; train_only_statistics.json.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SPLITS trong notebook; selected_before_test.json. Đây là chia 5 nhóm, không phải LOSO.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CNN trong notebook; resources_fold1.csv.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notebook chính; validation_runs.csv; selected_before_test.json.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M1_results/HR_summary.csv. MAE là trung bình không trọng số của MAE 15 người; SD theo người.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M1_results/HAR_summary.csv; M1_per_class_F1.csv; M1_confusion.csv. Macro-F1 gộp trên 46.763 cửa sổ với tám nhãn cố định.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đề cương; DEF/experiment_config.json; DEF/selected_before_test.json. Cả 15 mô hình được huấn luyện, SMOKE=false.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DEF/HAR_summary.csv; DEF/HR_summary.csv; comparison_deltas.csv.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resources_fold1.csv (phiên chính) và DEF/resources_same_session.csv (phiên bổ sung). Mỗi phép đo 50 warm-up, 500 lần, batch=1, CUDA sync; chỉ forward. Không so sánh trực tiếp độ trễ giữa hai phiên.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toàn bộ CSV chính và DEF; mục kết luận và giới hạn trong báo cáo.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các tài liệu tham khảo trong báo cáo; hai notebook đã chạy và hai ZIP kết quả.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e80afb71f47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bf1eeb00b40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e9437e9b0243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d6dd96a3e941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0ab438531e46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e892dd78848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421CB25-934A-45BE-8B59-A23C2F8D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276833B-4238-4785-A58E-98F5AFD1A3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E0F74AE-7C1D-45D8-A2E7-2A3867AD05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8761223-843C-449F-BE0C-CCFD6AF1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5659F0D-52C1-4BCC-8845-F11DDCE3F4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7615409-2529-4A92-B72C-6CB2539D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E906090-5A67-4DC7-8503-3A51BCE4B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D93CA82-5EBD-4D82-BD6F-DF7BFE006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F0BD0CE-2220-402C-AA2F-5879584F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8E3FB39-2ED3-4614-9CEC-74FD401AC5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97E154-DDC3-4A0E-A2EE-A3BB0372C6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0DAEE26-72D4-407D-AF8E-36A8CADDB8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6C6E9F9-0A75-4BBA-B787-EA478598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CC635D1-6A63-4670-A9D9-4FED53D393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D7D96C-7A95-4E72-A697-0729E46A09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031000383347f9" /><Relationship Type="http://schemas.openxmlformats.org/officeDocument/2006/relationships/slideLayout" Target="/ppt/slideLayouts/slideLayout1.xml" Id="Rc567fe43083d49f0" /><Relationship Type="http://schemas.openxmlformats.org/officeDocument/2006/relationships/slideLayout" Target="/ppt/slideLayouts/slideLayout2.xml" Id="R27358f05b35c49ce" /><Relationship Type="http://schemas.openxmlformats.org/officeDocument/2006/relationships/slideLayout" Target="/ppt/slideLayouts/slideLayout3.xml" Id="R50121cf5706e463b" /><Relationship Type="http://schemas.openxmlformats.org/officeDocument/2006/relationships/slideLayout" Target="/ppt/slideLayouts/slideLayout4.xml" Id="R9f47a8cfd9274d76" /><Relationship Type="http://schemas.openxmlformats.org/officeDocument/2006/relationships/slideLayout" Target="/ppt/slideLayouts/slideLayout5.xml" Id="R94af18575b9f4d38" /><Relationship Type="http://schemas.openxmlformats.org/officeDocument/2006/relationships/slideLayout" Target="/ppt/slideLayouts/slideLayout6.xml" Id="Rc1cfbd1268cc48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67fe43083d49f0"/>
    <p:sldLayoutId xmlns:r="http://schemas.openxmlformats.org/officeDocument/2006/relationships" id="2147483650" r:id="R27358f05b35c49ce"/>
    <p:sldLayoutId xmlns:r="http://schemas.openxmlformats.org/officeDocument/2006/relationships" id="2147483651" r:id="R50121cf5706e463b"/>
    <p:sldLayoutId xmlns:r="http://schemas.openxmlformats.org/officeDocument/2006/relationships" id="2147483652" r:id="R9f47a8cfd9274d76"/>
    <p:sldLayoutId xmlns:r="http://schemas.openxmlformats.org/officeDocument/2006/relationships" id="2147483653" r:id="R94af18575b9f4d38"/>
    <p:sldLayoutId xmlns:r="http://schemas.openxmlformats.org/officeDocument/2006/relationships" id="2147483654" r:id="Rc1cfbd1268cc48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055361a6db41fc" /><Relationship Type="http://schemas.openxmlformats.org/officeDocument/2006/relationships/notesSlide" Target="/ppt/notesSlides/notesSlide1.xml" Id="R1e9754a37a9741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4e97a0eddb4f42" /><Relationship Type="http://schemas.openxmlformats.org/officeDocument/2006/relationships/notesSlide" Target="/ppt/notesSlides/notesSlide2.xml" Id="Rb02f5ba9cb9b4f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b24325c8ff4a3e" /><Relationship Type="http://schemas.openxmlformats.org/officeDocument/2006/relationships/notesSlide" Target="/ppt/notesSlides/notesSlide3.xml" Id="Rb097195048d34d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a171f50b6d48c4" /><Relationship Type="http://schemas.openxmlformats.org/officeDocument/2006/relationships/notesSlide" Target="/ppt/notesSlides/notesSlide4.xml" Id="R7be977da951744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5e185ed78047ee" /><Relationship Type="http://schemas.openxmlformats.org/officeDocument/2006/relationships/notesSlide" Target="/ppt/notesSlides/notesSlide5.xml" Id="Rec63438811cb41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ec2eb6b3fe434b" /><Relationship Type="http://schemas.openxmlformats.org/officeDocument/2006/relationships/notesSlide" Target="/ppt/notesSlides/notesSlide6.xml" Id="R874a99e5443e43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e499b491ae49bc" /><Relationship Type="http://schemas.openxmlformats.org/officeDocument/2006/relationships/notesSlide" Target="/ppt/notesSlides/notesSlide7.xml" Id="R1f1b829402c046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08d1c45eae456f" /><Relationship Type="http://schemas.openxmlformats.org/officeDocument/2006/relationships/chart" Target="/ppt/slides/charts/chart1.xml" Id="R2423b9f20f384b0e" /><Relationship Type="http://schemas.openxmlformats.org/officeDocument/2006/relationships/notesSlide" Target="/ppt/notesSlides/notesSlide8.xml" Id="R644b2ad98b5e4d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e0f1a3fc8b430a" /><Relationship Type="http://schemas.openxmlformats.org/officeDocument/2006/relationships/notesSlide" Target="/ppt/notesSlides/notesSlide9.xml" Id="R858ee2d565644d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30bf44e4864349" /><Relationship Type="http://schemas.openxmlformats.org/officeDocument/2006/relationships/notesSlide" Target="/ppt/notesSlides/notesSlide10.xml" Id="R5839dce18eb04e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c0abfd88544e01" /><Relationship Type="http://schemas.openxmlformats.org/officeDocument/2006/relationships/chart" Target="/ppt/slides/charts/chart2.xml" Id="R812123a780fb424b" /><Relationship Type="http://schemas.openxmlformats.org/officeDocument/2006/relationships/notesSlide" Target="/ppt/notesSlides/notesSlide11.xml" Id="R9f04c4bbc78547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e291b14f234e93" /><Relationship Type="http://schemas.openxmlformats.org/officeDocument/2006/relationships/notesSlide" Target="/ppt/notesSlides/notesSlide12.xml" Id="Rf4c5ca6c95f344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9906a20d2e46f4" /><Relationship Type="http://schemas.openxmlformats.org/officeDocument/2006/relationships/notesSlide" Target="/ppt/notesSlides/notesSlide13.xml" Id="Rd2935ff192ee40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7cb2d671e7481d" /><Relationship Type="http://schemas.openxmlformats.org/officeDocument/2006/relationships/notesSlide" Target="/ppt/notesSlides/notesSlide14.xml" Id="R4ef9b8801fc6455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 theo người (bpm)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Data'!$A$2:$A$4</c:f>
              <c:strCache>
                <c:ptCount val="3"/>
                <c:pt idx="0">
                  <c:v>B0 (phổ)</c:v>
                </c:pt>
                <c:pt idx="1">
                  <c:v>B1 (HR)</c:v>
                </c:pt>
                <c:pt idx="2">
                  <c:v>M1 (đa nhiệm)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16.056486</c:v>
                </c:pt>
                <c:pt idx="1">
                  <c:v>6.534999</c:v>
                </c:pt>
                <c:pt idx="2">
                  <c:v>6.65705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7354D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1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DejaVu Sans"/>
                    <a:ea typeface="DejaVu Sans"/>
                    <a:cs typeface="DejaVu Sans"/>
                  </a:rPr>
                  <a:t>MAE theo người (bpm)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Macro-F1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Data'!$A$2:$A$5</c:f>
              <c:strCache>
                <c:ptCount val="4"/>
                <c:pt idx="0">
                  <c:v>M1</c:v>
                </c:pt>
                <c:pt idx="1">
                  <c:v>D: CE thường</c:v>
                </c:pt>
                <c:pt idx="2">
                  <c:v>E: PPG-only</c:v>
                </c:pt>
                <c:pt idx="3">
                  <c:v>F: ACC-only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0.7351614016</c:v>
                </c:pt>
                <c:pt idx="1">
                  <c:v>0.7221514611</c:v>
                </c:pt>
                <c:pt idx="2">
                  <c:v>0.4274832979</c:v>
                </c:pt>
                <c:pt idx="3">
                  <c:v>0.7306340266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7354D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1E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DejaVu Sans"/>
                    <a:ea typeface="DejaVu Sans"/>
                    <a:cs typeface="DejaVu Sans"/>
                  </a:rPr>
                  <a:t>Macro-F1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27AD8-9C42-48C7-8A64-40252460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BÁO CÁO CUỐI KỲ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C8F69-6702-4D39-A7DF-F008CA69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Đặng Minh Tài • 23110148 | Trí tuệ nhân tạo cho IoT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CB553-80AC-48B5-8ECE-7CF76615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D182E-DC71-452A-BCBF-90A046F5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TRƯỜNG ĐH CÔNG NGHỆ KỸ THUẬT TP. HỒ CHÍ MINH</a:t>
            </a:r>
          </a:p>
          <a:p xmlns:a="http://schemas.openxmlformats.org/drawingml/2006/main">
            <a:pPr>
              <a:defRPr sz="18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KHOA CÔNG NGHỆ THÔNG TIN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28641-99AE-4E80-B7ED-A4CA7507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Nhận dạng hoạt động và</a:t>
            </a:r>
          </a:p>
          <a:p xmlns:a="http://schemas.openxmlformats.org/drawingml/2006/main">
            <a:pPr>
              <a:defRPr sz="3450" b="1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ước lượng nhịp tim trên PPG-DaLiA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521F3-71A9-4D59-9844-94217730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Sinh viên: Đặng Minh Tài — MSSV: 23110148</a:t>
            </a:r>
          </a:p>
          <a:p xmlns:a="http://schemas.openxmlformats.org/drawingml/2006/main">
            <a:pPr>
              <a:defRPr sz="1875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Lớp: IOT-01CLC</a:t>
            </a:r>
          </a:p>
          <a:p xmlns:a="http://schemas.openxmlformats.org/drawingml/2006/main">
            <a:pPr>
              <a:defRPr sz="1875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Giảng viên: Th.S Hồ Nhựt Minh</a:t>
            </a:r>
          </a:p>
        </p:txBody>
      </p:sp>
    </p:spTree>
    <p:extLst>
      <p:ext uri="{BB962C8B-B14F-4D97-AF65-F5344CB8AC3E}">
        <p14:creationId xmlns:p14="http://schemas.microsoft.com/office/powerpoint/2010/main" val="1409697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01260-7317-4593-B789-4A91DC96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Mục tiêu: một mạng cho hai nhiệm vụ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E4A41F-8E62-4E16-A2EF-E848E0EC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Đặng Minh Tài • 23110148 | Trí tuệ nhân tạo cho IoT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648DD-80A3-4B26-8D45-5861C2F6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AA03E-9096-446C-88EF-F784D8BC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Đầu vào: tín hiệu PPG và gia tốc ba trục ở cổ tay.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E439B-8691-4DD1-B2C5-D4B396CE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Đầu ra: nhịp tim (HR) và một trong tám hoạt động (HAR).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4E7A8-1204-4F2F-B234-96AC58A2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So sánh M1 đa nhiệm với B1 (HR), B2 (HAR) và B0 (phổ).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EFA33-6292-4A9C-8898-EBE4A30E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Đánh giá chất lượng, số tham số và độ trễ suy luận.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9B715-CD4B-4EAB-AD58-607A9341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Phạm vi thực nghiệm: A–F, gồm 25 mô hình chính và 15 mô hình bổ sung.</a:t>
            </a:r>
          </a:p>
        </p:txBody>
      </p:sp>
    </p:spTree>
    <p:extLst>
      <p:ext uri="{BB962C8B-B14F-4D97-AF65-F5344CB8AC3E}">
        <p14:creationId xmlns:p14="http://schemas.microsoft.com/office/powerpoint/2010/main" val="104998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423CF-0662-41FA-931F-AB3E9F0B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Dữ liệu và cửa sổ đánh giá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3700F-BA74-4632-BA2B-A73EBB11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Đặng Minh Tài • 23110148 | Trí tuệ nhân tạo cho IoT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94213-2967-43B1-B531-BA04BF36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14375" y="1571625"/>
          <a:ext xmlns:a="http://schemas.openxmlformats.org/drawingml/2006/main" cx="107632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715250"/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Dữ liệu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Thiết lập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 người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Khoảng 35,97 giờ tín hiệu thực tế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PPG / ACC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64 Hz / 32 Hz; ACC đưa về 64 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Cửa sổ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 giây, bước 2 giây; đầu vào 4 × 512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Số cửa sổ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64.697 ứng viên → 46.763 hợp lệ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2EDD4-F1EA-4343-AF8D-5AC4D83E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Tám lớp: Sitting, Stairs, Table soccer, Cycling, Driving, Lunch, Walking, Working.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448CA-54CA-415F-9CFE-2E487D68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Loại nhãn chuyển tiếp và cửa sổ có nhãn hoạt động không đồng nhất.</a:t>
            </a:r>
          </a:p>
        </p:txBody>
      </p:sp>
    </p:spTree>
    <p:extLst>
      <p:ext uri="{BB962C8B-B14F-4D97-AF65-F5344CB8AC3E}">
        <p14:creationId xmlns:p14="http://schemas.microsoft.com/office/powerpoint/2010/main" val="18717581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15A71-7BB5-4CA1-A281-874BDD35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Tiền xử lý và kiểm soát rò rỉ 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3AC3D-5D31-4261-90CC-DE3955AF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Đặng Minh Tài • 23110148 | Trí tuệ nhân tạo cho IoT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24E0B-C7CE-4B2B-ACEB-D4B90E88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32312-7D51-44B5-960B-B1B19458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PPG: lọc Butterworth dải 0,5–8 Hz bằng SOS, lọc hai chiều.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D9968-550B-4B10-A118-F074CB6A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ACC: resample_poly từ 32 Hz lên 64 Hz.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C880A-7AE3-4E8D-9612-D86D6F32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HR: trung bình nhịp tim tức thời từ ECG trong mỗi cửa sổ.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F9EEE-2472-4FEF-93E0-9F3D01CC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Chuẩn hóa kênh, HR và trọng số lớp chỉ tính trên Train.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9277A-B55C-4D92-AC95-0C332B57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Lọc hai chiều là xử lý ngoại tuyến; chưa đánh giá pipeline thời gian thực.</a:t>
            </a:r>
          </a:p>
        </p:txBody>
      </p:sp>
    </p:spTree>
    <p:extLst>
      <p:ext uri="{BB962C8B-B14F-4D97-AF65-F5344CB8AC3E}">
        <p14:creationId xmlns:p14="http://schemas.microsoft.com/office/powerpoint/2010/main" val="12565100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4410D-6D3D-47A3-90D0-6FA882F4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Chia dữ liệu theo người: 5 fold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6A78C-6881-4418-BDA7-BD5E6911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Đặng Minh Tài • 23110148 | Trí tuệ nhân tạo cho IoT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46C29-018B-4FA4-8D1B-E9B28228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14375" y="1571625"/>
          <a:ext xmlns:a="http://schemas.openxmlformats.org/drawingml/2006/main" cx="1076325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715250"/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Nhóm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Người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G1 / G2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S1–S3 / S4–S6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G3 / G4 / G5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S7–S9 / S10–S12 / S13–S15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Mỗi fold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Train: 9; Validation: 3; Test: 3 người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6B721-5FEA-478A-A1EE-1F6E74DA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Fold t: Test = Gt; Validation = nhóm kế tiếp theo vòng; Train = ba nhóm còn lại.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C31D8-9F19-40FA-AF87-29BA4420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91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Mỗi người xuất hiện đúng một lần trong Test.</a:t>
            </a:r>
          </a:p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Chọn epoch và λ trên Validation trước khi đánh giá Test.</a:t>
            </a:r>
          </a:p>
        </p:txBody>
      </p:sp>
    </p:spTree>
    <p:extLst>
      <p:ext uri="{BB962C8B-B14F-4D97-AF65-F5344CB8AC3E}">
        <p14:creationId xmlns:p14="http://schemas.microsoft.com/office/powerpoint/2010/main" val="7829391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AA521-C353-4A58-A8A5-486928BE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1D-CNN dùng chung bộ trích xuất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DACA7-7E81-4FEA-B57D-DE9C231E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Đặng Minh Tài • 23110148 | Trí tuệ nhân tạo cho IoT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8AAC6-41F6-47DB-96EB-642DF077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14375" y="1571625"/>
          <a:ext xmlns:a="http://schemas.openxmlformats.org/drawingml/2006/main" cx="107632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715250"/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Thành phần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Cấu hình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Backbone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 khối Conv1d → BN → ReLU → MaxPool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Số kênh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 → 32 → 64 → 128 → 256; kernel = 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Biểu diễn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Global Average Pooling → vector 256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Hai đầu 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MLP 256 → 64 → 1 (HR) / 8 (HAR)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7A457-4582-4890-B9C1-831F591E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006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M1: 422.665 tham số; B1 + B2: 811.849 tham số.</a:t>
            </a:r>
          </a:p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Giảm 47,94% số tham số so với hai mạng riêng.</a:t>
            </a:r>
          </a:p>
        </p:txBody>
      </p:sp>
    </p:spTree>
    <p:extLst>
      <p:ext uri="{BB962C8B-B14F-4D97-AF65-F5344CB8AC3E}">
        <p14:creationId xmlns:p14="http://schemas.microsoft.com/office/powerpoint/2010/main" val="18751060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5B14A-B431-427A-897E-C834FF2E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Huấn luyện và lựa chọn mô hình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15D87-FB77-4051-B68F-C357BE6F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Đặng Minh Tài • 23110148 | Trí tuệ nhân tạo cho IoT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B904D-62E4-413B-85FA-C930BF57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E7293-1D01-4ED7-B883-F621FF73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M1: L = MAE trên HR chuẩn hóa + λ × CE có trọng số lớp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75B20-0C23-4D08-BAE5-6AE44935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AdamW: lr = 10⁻³; weight decay = 10⁻⁴; batch = 64.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9E807-AE94-4DA2-B57D-A840CE9A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Tối đa 100 epoch; early stopping 10; seed = 42.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9FF24-4DB6-441A-87A5-92569D9A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386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Khảo sát λ ∈ {0,1; 1; 10} trên từng fold.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18460-C9CF-484E-9D07-AE7B4AA7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Tiêu chí M1: J = MAE theo người / σHR,Train + 1 − Macro-F1.</a:t>
            </a:r>
          </a:p>
          <a:p xmlns:a="http://schemas.openxmlformats.org/drawingml/2006/main">
            <a:pPr>
              <a:defRPr sz="1875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λ được chọn cho fold 1–5: 0,1; 1; 0,1; 1; 1.</a:t>
            </a:r>
          </a:p>
        </p:txBody>
      </p:sp>
    </p:spTree>
    <p:extLst>
      <p:ext uri="{BB962C8B-B14F-4D97-AF65-F5344CB8AC3E}">
        <p14:creationId xmlns:p14="http://schemas.microsoft.com/office/powerpoint/2010/main" val="1896221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D72D9-DC05-41CE-9CE9-64A5C59B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HR: M1 gần B1, chưa cải thiện MAE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B76B9-BE76-4194-B4F7-EF853B28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Đặng Minh Tài • 23110148 | Trí tuệ nhân tạo cho IoT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46603-7F00-40A0-BFE6-19EC076B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14375" y="1524000"/>
          <a:ext xmlns:a="http://schemas.openxmlformats.org/drawingml/2006/main" cx="10763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23b9f20f384b0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58FEC-1097-496F-AF47-08E04725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B1: 6,535 ± 4,027 bpm; M1: 6,657 ± 3,657 bpm.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13864-EED7-4190-AAA7-F9597846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816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M1 cao hơn B1 0,122 bpm; cải thiện trên 6/15 người.</a:t>
            </a:r>
          </a:p>
        </p:txBody>
      </p:sp>
    </p:spTree>
    <p:extLst>
      <p:ext uri="{BB962C8B-B14F-4D97-AF65-F5344CB8AC3E}">
        <p14:creationId xmlns:p14="http://schemas.microsoft.com/office/powerpoint/2010/main" val="142399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E6D0C-3262-4AD7-B0AA-DD84C6CE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HAR: cải thiện nhỏ với M1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1EF57-EAAE-4871-B63D-E8B84322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Đặng Minh Tài • 23110148 | Trí tuệ nhân tạo cho IoT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A1326-390D-4DCC-9619-6904CA75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10763250" cy="1771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3238500"/>
                <a:gridCol w="3238500"/>
              </a:tblGrid>
              <a:tr h="5905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Mô hình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Accuracy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Macro-F1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B2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68,94%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0,7312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69,62%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0,7352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771B4-1DCC-45AB-BB89-101FC0F2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M1 tăng 0,678 điểm phần trăm Accuracy và 0,00398 Macro-F1.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6ECFC-47BB-463F-B038-5BFECE53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Cycling đạt F1 cao (0,9560). Working đạt 0,5335.</a:t>
            </a:r>
          </a:p>
          <a:p xmlns:a="http://schemas.openxmlformats.org/drawingml/2006/main">
            <a:pPr>
              <a:defRPr sz="2025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Nhầm Working → Lunch: 3.220/8.450 cửa sổ (38,11%).</a:t>
            </a:r>
          </a:p>
        </p:txBody>
      </p:sp>
    </p:spTree>
    <p:extLst>
      <p:ext uri="{BB962C8B-B14F-4D97-AF65-F5344CB8AC3E}">
        <p14:creationId xmlns:p14="http://schemas.microsoft.com/office/powerpoint/2010/main" val="20489543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CD610-BA5B-4BAE-BB76-423B3E62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Thí nghiệm bổ sung D / E /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BAE98-18EF-44CD-9703-F7072455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Đặng Minh Tài • 23110148 | Trí tuệ nhân tạo cho IoT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E3D05-0429-48C8-BECE-07EE3E46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14375" y="1571625"/>
          <a:ext xmlns:a="http://schemas.openxmlformats.org/drawingml/2006/main" cx="1076325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001000"/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Thí nghiệm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Thay đổi so với đối chứng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M1 dùng CE thường thay CE có trọng số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M1 chỉ dùng PPG, bỏ ba kênh ACC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HAR chỉ dùng ACC; đối chứng B2 PPG + ACC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DA371-3FE7-4539-9C73-30AE0B9E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D/E giữ λ đã chọn của M1 theo từng fold.</a:t>
            </a:r>
          </a:p>
          <a:p xmlns:a="http://schemas.openxmlformats.org/drawingml/2006/main">
            <a:pPr>
              <a:def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Cùng phép chia, cửa sổ và seed; huấn luyện mới từng mô hình.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54823-4959-4933-AB93-3D76BE18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F thực hiện nhánh ACC-only theo đề cương; không chạy DeepPPG.</a:t>
            </a:r>
          </a:p>
        </p:txBody>
      </p:sp>
    </p:spTree>
    <p:extLst>
      <p:ext uri="{BB962C8B-B14F-4D97-AF65-F5344CB8AC3E}">
        <p14:creationId xmlns:p14="http://schemas.microsoft.com/office/powerpoint/2010/main" val="19152368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DD222-3AFA-41E4-8B06-AE3E9CBC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D / E / F: ACC ảnh hưởng mạnh đến HAR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453C4-C9E7-45D6-B0C3-8C0A4D5D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Đặng Minh Tài • 23110148 | Trí tuệ nhân tạo cho IoT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23819-2A77-484C-B452-DDB44E69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14375" y="1524000"/>
          <a:ext xmlns:a="http://schemas.openxmlformats.org/drawingml/2006/main" cx="107632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2123a780fb424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9CBF3-7BD3-425F-8656-945BA2B3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Bỏ ACC: Macro-F1 giảm 0,3077. CE có trọng số tốt hơn D 0,0130.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797B0-E4A8-4CAB-AFE2-3B171F5D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435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MAE HR: M1 6,657; D 6,747; E 6,748 bpm.</a:t>
            </a:r>
          </a:p>
          <a:p xmlns:a="http://schemas.openxmlformats.org/drawingml/2006/main">
            <a:pPr>
              <a:defRPr sz="1800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F: Accuracy 70,11%; Macro-F1 0,7306 — gần B2 (0,7312).</a:t>
            </a:r>
          </a:p>
        </p:txBody>
      </p:sp>
    </p:spTree>
    <p:extLst>
      <p:ext uri="{BB962C8B-B14F-4D97-AF65-F5344CB8AC3E}">
        <p14:creationId xmlns:p14="http://schemas.microsoft.com/office/powerpoint/2010/main" val="316887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AA422-F5AA-4770-83DD-87B3388C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Chi phí mô hình và độ trễ trên T4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BAE9F-F161-444A-9CA8-F11A506A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Đặng Minh Tài • 23110148 | Trí tuệ nhân tạo cho IoT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5A0B8-8A38-4938-A952-8839F2B7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14375" y="1571625"/>
          <a:ext xmlns:a="http://schemas.openxmlformats.org/drawingml/2006/main" cx="1076325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000500"/>
                <a:gridCol w="3429000"/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Mô hình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Tham số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Median (ms)</a:t>
                      </a:r>
                    </a:p>
                  </a:txBody>
                  <a:tcPr marL="91440" marR="91440" marT="45720" marB="45720">
                    <a:solidFill>
                      <a:srgbClr val="17354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M1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422.665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1,435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 / 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422.665 / 421.801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1,434 / 1,428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B2 / F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406.152 / 405.864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54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1,133 / 1,274</a:t>
                      </a:r>
                    </a:p>
                  </a:txBody>
                  <a:tcPr marL="91440" marR="91440" marT="45720" marB="45720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C8797-71FA-481B-8FAA-ECD34C99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Bảng trên: các mô hình đo trong cùng phiên bổ sung trên Tesla T4.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A378C-697D-4E56-828E-BC499B9C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Phiên chính: M1 giảm 47,94% tham số so với B1 + B2.</a:t>
            </a:r>
          </a:p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Median forward giảm 36,97% trong phép đo cùng phiên chính.</a:t>
            </a:r>
          </a:p>
        </p:txBody>
      </p:sp>
    </p:spTree>
    <p:extLst>
      <p:ext uri="{BB962C8B-B14F-4D97-AF65-F5344CB8AC3E}">
        <p14:creationId xmlns:p14="http://schemas.microsoft.com/office/powerpoint/2010/main" val="6774325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70EE2-0F30-4E50-9F64-E3EBA721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Kết luận và giới hạn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925AB-42AC-476D-986F-FE3C8858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Đặng Minh Tài • 23110148 | Trí tuệ nhân tạo cho IoT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6F577-76EB-48E6-A337-FC8F2FDF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7EDBA-5165-470E-9426-43641329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M1 giảm quy mô mô hình; HR chưa tốt hơn B1.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11BC6-7A2F-4101-917D-5B3FF966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HAR cải thiện nhẹ; ACC có vai trò lớn trong cấu hình khảo sát.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770CB-F495-4CC9-AAEC-0E1B9D7C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D/E/F đã hoàn thành trên cùng phép chia và cửa sổ 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3B7C3-67E1-4AB4-A4FA-C1585D37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Chưa kiểm định thống kê, nhiều seed hoặc triển khai MCU.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E139F-F781-4508-9FDD-8D76C716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Độ trễ T4 chỉ phản ánh forward GPU, chưa gồm thu tín hiệu và tiền xử lý.</a:t>
            </a:r>
          </a:p>
        </p:txBody>
      </p:sp>
    </p:spTree>
    <p:extLst>
      <p:ext uri="{BB962C8B-B14F-4D97-AF65-F5344CB8AC3E}">
        <p14:creationId xmlns:p14="http://schemas.microsoft.com/office/powerpoint/2010/main" val="18704579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30502-9F83-4955-9EA9-16F0F79D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Tài liệu và khả năng tái lập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E3773-69F2-460F-8FF5-A7C53801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Đặng Minh Tài • 23110148 | Trí tuệ nhân tạo cho IoT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A7474-E9C9-4A82-A210-1C5E61B8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775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C78EE-8175-4FCD-8C7A-ECC1146A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F8C"/>
                </a:solidFill>
                <a:latin typeface="DejaVu Sans"/>
                <a:ea typeface="DejaVu Sans"/>
                <a:cs typeface="DejaVu Sans"/>
              </a:rPr>
              <a:t>Bộ nộp: báo cáo có bìa, hai notebook, kết quả CSV/JSON/hình, README và slide.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4D951-6D8B-4F94-B155-0B08FC22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PPG-DaLiA (UCI): https://doi.org/10.24432/C53890</a:t>
            </a:r>
          </a:p>
          <a:p xmlns:a="http://schemas.openxmlformats.org/drawingml/2006/main">
            <a:pPr>
              <a:defRPr sz="1950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Mã và giao thức: notebook chính A–C, notebook bổ sung D–F.</a:t>
            </a:r>
          </a:p>
          <a:p xmlns:a="http://schemas.openxmlformats.org/drawingml/2006/main">
            <a:pPr>
              <a:defRPr sz="1950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CSV ghi dự đoán, lịch sử huấn luyện, chọn mô hình và môi trường.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03A59-E814-43FA-BB19-63A348B3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Notebook tự tải dữ liệu UCI, mount Drive và hỗ trợ tiếp tục từ checkpoint.</a:t>
            </a:r>
          </a:p>
          <a:p xmlns:a="http://schemas.openxmlformats.org/drawingml/2006/main">
            <a:pPr>
              <a:defRPr sz="1875" b="0">
                <a:solidFill>
                  <a:srgbClr val="17354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54D"/>
                </a:solidFill>
                <a:latin typeface="DejaVu Sans"/>
                <a:ea typeface="DejaVu Sans"/>
                <a:cs typeface="DejaVu Sans"/>
              </a:rPr>
              <a:t>Gói nộp đã bỏ .pt/.npz: xem lại số liệu được; chạy mới sẽ huấn luyện lại nếu không còn checkpoint trên Drive.</a:t>
            </a:r>
          </a:p>
        </p:txBody>
      </p:sp>
    </p:spTree>
    <p:extLst>
      <p:ext uri="{BB962C8B-B14F-4D97-AF65-F5344CB8AC3E}">
        <p14:creationId xmlns:p14="http://schemas.microsoft.com/office/powerpoint/2010/main" val="17295212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2026-10-04T09:08:17.3740000Z</dcterms:created>
  <dcterms:modified xsi:type="dcterms:W3CDTF">2026-10-04T09:08:17.3740000Z</dcterms:modified>
</coreProperties>
</file>